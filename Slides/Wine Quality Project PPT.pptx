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45" r:id="rId7"/>
    <p:sldId id="315" r:id="rId8"/>
    <p:sldId id="329" r:id="rId9"/>
    <p:sldId id="302" r:id="rId10"/>
    <p:sldId id="356" r:id="rId11"/>
    <p:sldId id="358" r:id="rId12"/>
    <p:sldId id="357" r:id="rId13"/>
    <p:sldId id="346" r:id="rId14"/>
    <p:sldId id="359" r:id="rId15"/>
    <p:sldId id="360" r:id="rId16"/>
    <p:sldId id="344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9B11-726B-622E-F1D0-53498C852A02}" v="122" dt="2025-09-25T09:02:38.1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9AF6-2FA1-A579-85CF-72C2BCC5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5F097-54CD-1540-2A07-BE66B68FA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CA832-E72E-6327-8323-3B1477596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B32FE-2259-6901-4EB7-B4E6FD80B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6068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35CB-0292-DA9A-BA00-FF9E8381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8AC22-5B0D-9688-13A6-E3F9CE34C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5F1E2-3928-FD50-9040-C24E022C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521BC-B5E5-432F-E797-C8AB0CCE0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3478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929A-75AB-A501-3864-424DD816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80007-5B7D-8361-DED6-2899C1927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A2957-CF21-086E-40AA-180C4CE93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D484-1E7F-9071-109F-C8E470C61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968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11/6/2025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smicStorm09/Wine-Quality-Predicto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://major.io/2014/08/08/use-gist-gem-github-enterprise-github-com" TargetMode="Externa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2669" y="4282751"/>
            <a:ext cx="7501813" cy="2382209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Harsh More – </a:t>
            </a:r>
            <a:r>
              <a:rPr lang="en-US" i="1" dirty="0">
                <a:solidFill>
                  <a:schemeClr val="tx1"/>
                </a:solidFill>
              </a:rPr>
              <a:t>Project Lead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Vedanth Parikh – </a:t>
            </a:r>
            <a:r>
              <a:rPr lang="en-US" i="1" dirty="0">
                <a:solidFill>
                  <a:schemeClr val="tx1"/>
                </a:solidFill>
              </a:rPr>
              <a:t>Group Member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B.Tech</a:t>
            </a:r>
            <a:r>
              <a:rPr lang="en-US" dirty="0">
                <a:solidFill>
                  <a:schemeClr val="tx1"/>
                </a:solidFill>
              </a:rPr>
              <a:t> Mechanical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MIT Manipal</a:t>
            </a:r>
          </a:p>
          <a:p>
            <a:pPr algn="r"/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16" y="2685552"/>
            <a:ext cx="6712664" cy="743448"/>
          </a:xfrm>
        </p:spPr>
        <p:txBody>
          <a:bodyPr>
            <a:noAutofit/>
          </a:bodyPr>
          <a:lstStyle/>
          <a:p>
            <a:r>
              <a:rPr lang="en-US" sz="7200" dirty="0"/>
              <a:t>Wine Quality Dataset Analysis</a:t>
            </a:r>
            <a:endParaRPr lang="en-IN" sz="7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6226B0-2BBA-382C-97F0-6A391BA87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053" y="193040"/>
            <a:ext cx="7311980" cy="218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682516"/>
            <a:ext cx="6418011" cy="4982444"/>
          </a:xfrm>
        </p:spPr>
        <p:txBody>
          <a:bodyPr>
            <a:normAutofit/>
          </a:bodyPr>
          <a:lstStyle/>
          <a:p>
            <a:r>
              <a:rPr lang="en-US" sz="2800" dirty="0"/>
              <a:t>The goal of this project is to analyze the Wine Quality dataset and understand how various physicochemical properties influence wine quality.</a:t>
            </a:r>
          </a:p>
          <a:p>
            <a:br>
              <a:rPr lang="en-US" sz="2800" dirty="0"/>
            </a:br>
            <a:r>
              <a:rPr lang="en-US" sz="2800" dirty="0"/>
              <a:t>We aim to build a predictive neural network model that can estimate wine quality based on these features.</a:t>
            </a:r>
            <a:endParaRPr lang="en-IN" sz="2800" dirty="0"/>
          </a:p>
          <a:p>
            <a:pPr marL="0" indent="0">
              <a:lnSpc>
                <a:spcPct val="150000"/>
              </a:lnSpc>
              <a:buNone/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186" y="1796795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615F5E-BFF3-47FC-457B-9E9DA70245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622042"/>
            <a:ext cx="7279952" cy="4430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sz="2800" dirty="0"/>
            </a:br>
            <a:r>
              <a:rPr lang="en-US" sz="2800" dirty="0"/>
              <a:t>• Explore and understand the dataset</a:t>
            </a:r>
            <a:br>
              <a:rPr lang="en-US" sz="2800" dirty="0"/>
            </a:br>
            <a:r>
              <a:rPr lang="en-US" sz="2800" dirty="0"/>
              <a:t>• Visualize feature distributions and data trends</a:t>
            </a:r>
            <a:br>
              <a:rPr lang="en-US" sz="2800" dirty="0"/>
            </a:br>
            <a:r>
              <a:rPr lang="en-US" sz="2800" dirty="0"/>
              <a:t>• Preprocess and normalize the data</a:t>
            </a:r>
            <a:br>
              <a:rPr lang="en-US" sz="2800" dirty="0"/>
            </a:br>
            <a:r>
              <a:rPr lang="en-US" sz="2800" dirty="0"/>
              <a:t>• Build a neural network model for wine quality prediction</a:t>
            </a:r>
            <a:br>
              <a:rPr lang="en-US" sz="2800" dirty="0"/>
            </a:br>
            <a:r>
              <a:rPr lang="en-US" sz="2800" dirty="0"/>
              <a:t>• Train the model for 100 epochs and evaluate performance</a:t>
            </a:r>
            <a:br>
              <a:rPr lang="en-US" sz="2800" dirty="0"/>
            </a:br>
            <a:r>
              <a:rPr lang="en-US" sz="2800" dirty="0"/>
              <a:t>• Compare predictions with actual quality scores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3581F4-9995-91A8-CFDB-6979F07FB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675086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9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459980"/>
            <a:ext cx="8278328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Dataset Description</a:t>
            </a:r>
            <a:br>
              <a:rPr lang="en-GB" dirty="0"/>
            </a:br>
            <a:br>
              <a:rPr lang="en-GB" dirty="0"/>
            </a:br>
            <a:br>
              <a:rPr lang="en-IN" sz="3100" b="0" dirty="0"/>
            </a:br>
            <a:r>
              <a:rPr lang="en-IN" sz="3100" b="0" dirty="0"/>
              <a:t>• Dataset: Wine Quality (UCI Machine Learning Repository)</a:t>
            </a:r>
            <a:br>
              <a:rPr lang="en-IN" sz="3100" b="0" dirty="0"/>
            </a:br>
            <a:r>
              <a:rPr lang="en-IN" sz="3100" b="0" dirty="0"/>
              <a:t>• Type: Red &amp; White wine chemical properties</a:t>
            </a:r>
            <a:br>
              <a:rPr lang="en-IN" sz="3100" b="0" dirty="0"/>
            </a:br>
            <a:r>
              <a:rPr lang="en-IN" sz="3100" b="0" dirty="0"/>
              <a:t>• Total Features: 11 physicochemical inputs</a:t>
            </a:r>
            <a:br>
              <a:rPr lang="en-IN" sz="3100" b="0" dirty="0"/>
            </a:br>
            <a:r>
              <a:rPr lang="en-IN" sz="3100" b="0" dirty="0"/>
              <a:t>• Target Variable: Quality score (0–10)</a:t>
            </a:r>
            <a:br>
              <a:rPr lang="en-IN" sz="3100" b="0" dirty="0"/>
            </a:br>
            <a:r>
              <a:rPr lang="en-IN" sz="3100" b="0" dirty="0"/>
              <a:t>• Common features: pH, alcohol, sulphates, acidity, residual sugar, density, etc.</a:t>
            </a:r>
            <a:endParaRPr lang="en-IN" sz="3100" b="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4079" y="1996625"/>
            <a:ext cx="8450632" cy="38628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3600" dirty="0"/>
          </a:p>
          <a:p>
            <a:r>
              <a:rPr lang="en-IN" sz="3600" dirty="0"/>
              <a:t>Data loading &amp; inspection</a:t>
            </a:r>
          </a:p>
          <a:p>
            <a:r>
              <a:rPr lang="en-IN" sz="3600" dirty="0"/>
              <a:t>Handling missing values</a:t>
            </a:r>
          </a:p>
          <a:p>
            <a:r>
              <a:rPr lang="en-IN" sz="3600" dirty="0"/>
              <a:t>Feature scaling</a:t>
            </a:r>
          </a:p>
          <a:p>
            <a:r>
              <a:rPr lang="en-IN" sz="3600" dirty="0"/>
              <a:t>Exploratory Data Analysis (EDA)</a:t>
            </a:r>
          </a:p>
          <a:p>
            <a:r>
              <a:rPr lang="en-IN" sz="3600" dirty="0"/>
              <a:t>Neural network model creation using TensorFlow/</a:t>
            </a:r>
            <a:r>
              <a:rPr lang="en-IN" sz="3600" dirty="0" err="1"/>
              <a:t>Keras</a:t>
            </a:r>
            <a:endParaRPr lang="en-IN" sz="3600" dirty="0"/>
          </a:p>
          <a:p>
            <a:r>
              <a:rPr lang="en-IN" sz="3600" dirty="0"/>
              <a:t>Training for </a:t>
            </a:r>
            <a:r>
              <a:rPr lang="en-IN" sz="3600" b="1" dirty="0"/>
              <a:t>100 epochs</a:t>
            </a:r>
            <a:endParaRPr lang="en-IN" sz="3600" dirty="0"/>
          </a:p>
          <a:p>
            <a:r>
              <a:rPr lang="en-IN" sz="3600" dirty="0"/>
              <a:t>Performance evaluation (Loss, MAE, predictions)</a:t>
            </a:r>
          </a:p>
          <a:p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Autofit/>
          </a:bodyPr>
          <a:lstStyle/>
          <a:p>
            <a:r>
              <a:rPr lang="en-IN" sz="4300" dirty="0"/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4199" y="1167013"/>
            <a:ext cx="9027702" cy="524344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7307944" cy="847817"/>
          </a:xfrm>
        </p:spPr>
        <p:txBody>
          <a:bodyPr>
            <a:normAutofit/>
          </a:bodyPr>
          <a:lstStyle/>
          <a:p>
            <a:r>
              <a:rPr lang="en-IN" dirty="0"/>
              <a:t>Feature Distributions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A125B-849C-1887-012B-EC5D8FF22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66" y="1381788"/>
            <a:ext cx="5554077" cy="50456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3094D9-0D58-1A9F-3300-4B3995554816}"/>
              </a:ext>
            </a:extLst>
          </p:cNvPr>
          <p:cNvSpPr txBox="1"/>
          <p:nvPr/>
        </p:nvSpPr>
        <p:spPr>
          <a:xfrm>
            <a:off x="6587412" y="2092389"/>
            <a:ext cx="346165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Description: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dirty="0"/>
            </a:br>
            <a:r>
              <a:rPr lang="en-US" sz="2400" dirty="0"/>
              <a:t>Shows how key physicochemical features such as acidity, chlorides, sulphates, density, and alcohol are distributed across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54BB2-1716-83AF-A119-61E735FE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1CA916-310B-C061-0D68-7BB3ED7E6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D492C9-A04C-EEDE-4071-CBCB15CBD1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4199" y="1167013"/>
            <a:ext cx="9027702" cy="524344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DD2D20-AD28-8F46-8852-1148B060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7307944" cy="847817"/>
          </a:xfrm>
        </p:spPr>
        <p:txBody>
          <a:bodyPr>
            <a:normAutofit fontScale="90000"/>
          </a:bodyPr>
          <a:lstStyle/>
          <a:p>
            <a:r>
              <a:rPr lang="en-IN" dirty="0"/>
              <a:t>Quality Score Distribution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E96B7-AC17-A45B-D8AE-84E80667EE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6166" y="1746883"/>
            <a:ext cx="5554077" cy="43154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35BAB5-8CA8-CD49-2D03-0D4643EFC8B7}"/>
              </a:ext>
            </a:extLst>
          </p:cNvPr>
          <p:cNvSpPr txBox="1"/>
          <p:nvPr/>
        </p:nvSpPr>
        <p:spPr>
          <a:xfrm>
            <a:off x="6587412" y="2092389"/>
            <a:ext cx="34616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Description: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dirty="0"/>
            </a:br>
            <a:r>
              <a:rPr lang="en-US" sz="2400" dirty="0"/>
              <a:t>Wine quality scores mostly lie between </a:t>
            </a:r>
            <a:r>
              <a:rPr lang="en-US" sz="2400" b="1" dirty="0"/>
              <a:t>5 and 7</a:t>
            </a:r>
            <a:r>
              <a:rPr lang="en-US" sz="2400" dirty="0"/>
              <a:t>, indicating a mid-range quality concentration.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766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F86EC-6A31-EFD4-FDFA-8D4BFC88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275D94-D681-7D3D-BE08-9BAED7E2E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1927E5-675E-A584-98B3-C2980EE1A6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4199" y="1167013"/>
            <a:ext cx="9027702" cy="524344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A5EA08-BF26-4B2E-183E-9AE43CBA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7307944" cy="847817"/>
          </a:xfrm>
        </p:spPr>
        <p:txBody>
          <a:bodyPr>
            <a:normAutofit/>
          </a:bodyPr>
          <a:lstStyle/>
          <a:p>
            <a:r>
              <a:rPr lang="en-IN" dirty="0"/>
              <a:t>Predictions vs Actual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AE308-EDE4-98C4-A40A-EE4DE4EA4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6166" y="1690266"/>
            <a:ext cx="5554077" cy="4428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076D3-E15E-D3F8-39EB-8A24CD24A17F}"/>
              </a:ext>
            </a:extLst>
          </p:cNvPr>
          <p:cNvSpPr txBox="1"/>
          <p:nvPr/>
        </p:nvSpPr>
        <p:spPr>
          <a:xfrm>
            <a:off x="6578081" y="1582265"/>
            <a:ext cx="34616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Observations:</a:t>
            </a:r>
          </a:p>
          <a:p>
            <a:br>
              <a:rPr lang="en-US" sz="2400" dirty="0"/>
            </a:br>
            <a:r>
              <a:rPr lang="en-US" sz="2400" dirty="0"/>
              <a:t>• Predictions follow the general trend of actual scores</a:t>
            </a:r>
            <a:br>
              <a:rPr lang="en-US" sz="2400" dirty="0"/>
            </a:br>
            <a:r>
              <a:rPr lang="en-US" sz="2400" dirty="0"/>
              <a:t>• Some variance exists due to overlapping feature ranges</a:t>
            </a:r>
            <a:br>
              <a:rPr lang="en-US" sz="2400" dirty="0"/>
            </a:br>
            <a:r>
              <a:rPr lang="en-US" sz="2400" dirty="0"/>
              <a:t>• Model performs reasonably well for mid-range quality scores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725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02B23-BC81-0568-05E9-429F68B2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315378-F340-12B4-1F95-B99133EBB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B27B8B-3271-7CE1-063F-4D67B5D30D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4199" y="1167013"/>
            <a:ext cx="9027702" cy="524344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7BB901-EFB4-3237-9D5A-D49B4311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8" y="430567"/>
            <a:ext cx="8446279" cy="847817"/>
          </a:xfrm>
        </p:spPr>
        <p:txBody>
          <a:bodyPr>
            <a:normAutofit/>
          </a:bodyPr>
          <a:lstStyle/>
          <a:p>
            <a:r>
              <a:rPr lang="en-IN" dirty="0"/>
              <a:t>Training Curves (Loss &amp; MAE)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D3C62-F5F3-1832-CBDD-F958FE1652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3842" y="2240253"/>
            <a:ext cx="7058680" cy="27272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4DDD17-65A6-C816-9484-9F6960456C1A}"/>
              </a:ext>
            </a:extLst>
          </p:cNvPr>
          <p:cNvSpPr txBox="1"/>
          <p:nvPr/>
        </p:nvSpPr>
        <p:spPr>
          <a:xfrm>
            <a:off x="7539134" y="1951596"/>
            <a:ext cx="34616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Observations:</a:t>
            </a:r>
            <a:br>
              <a:rPr lang="en-US" sz="2400" b="1" dirty="0"/>
            </a:br>
            <a:br>
              <a:rPr lang="en-US" sz="2400" dirty="0"/>
            </a:br>
            <a:r>
              <a:rPr lang="en-US" sz="2400" dirty="0"/>
              <a:t>• Training and validation loss decrease sharply within first 20 epochs</a:t>
            </a:r>
            <a:br>
              <a:rPr lang="en-US" sz="2400" dirty="0"/>
            </a:br>
            <a:r>
              <a:rPr lang="en-US" sz="2400" dirty="0"/>
              <a:t>• MAE stabilizes after ~20 epochs</a:t>
            </a:r>
            <a:br>
              <a:rPr lang="en-US" sz="2400" dirty="0"/>
            </a:br>
            <a:r>
              <a:rPr lang="en-US" sz="2400" dirty="0"/>
              <a:t>• Model shows no major overfitting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0460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78F7D2-E655-5460-05D3-9244ED7C1B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813" y="2259304"/>
            <a:ext cx="8922138" cy="4813300"/>
          </a:xfrm>
        </p:spPr>
        <p:txBody>
          <a:bodyPr>
            <a:normAutofit/>
          </a:bodyPr>
          <a:lstStyle/>
          <a:p>
            <a:r>
              <a:rPr lang="en-US" sz="2800" dirty="0"/>
              <a:t>Strong skew in several chemical properties</a:t>
            </a:r>
          </a:p>
          <a:p>
            <a:r>
              <a:rPr lang="en-US" sz="2800" dirty="0"/>
              <a:t>Alcohol and sulphates correlate positively with wine quality</a:t>
            </a:r>
          </a:p>
          <a:p>
            <a:r>
              <a:rPr lang="en-US" sz="2800" dirty="0"/>
              <a:t>The neural network model learns effectively over 100 epochs</a:t>
            </a:r>
          </a:p>
          <a:p>
            <a:r>
              <a:rPr lang="en-US" sz="2800" dirty="0"/>
              <a:t>Predictive performance is stable and consistent</a:t>
            </a:r>
          </a:p>
          <a:p>
            <a:r>
              <a:rPr lang="en-US" sz="2800" dirty="0"/>
              <a:t>Mid-quality wines are the most common (5–7 range)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A9B7C7-2112-9219-5E0B-862BB547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87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63EA-D5DD-F2D7-0314-0FC5C317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9C3D65-AC68-6062-1732-429265B485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813" y="2259304"/>
            <a:ext cx="8922138" cy="4813300"/>
          </a:xfrm>
        </p:spPr>
        <p:txBody>
          <a:bodyPr>
            <a:normAutofit/>
          </a:bodyPr>
          <a:lstStyle/>
          <a:p>
            <a:r>
              <a:rPr lang="en-IN" sz="3200" dirty="0"/>
              <a:t>Google Colab – Coding &amp; training</a:t>
            </a:r>
          </a:p>
          <a:p>
            <a:r>
              <a:rPr lang="en-IN" sz="3200" dirty="0"/>
              <a:t>Python</a:t>
            </a:r>
          </a:p>
          <a:p>
            <a:r>
              <a:rPr lang="en-IN" sz="3200" dirty="0"/>
              <a:t>Pandas – Data manipulation</a:t>
            </a:r>
          </a:p>
          <a:p>
            <a:r>
              <a:rPr lang="en-IN" sz="3200" dirty="0"/>
              <a:t>Matplotlib/Seaborn – Visualizations</a:t>
            </a:r>
          </a:p>
          <a:p>
            <a:r>
              <a:rPr lang="en-IN" sz="3200" dirty="0"/>
              <a:t>TensorFlow/</a:t>
            </a:r>
            <a:r>
              <a:rPr lang="en-IN" sz="3200" dirty="0" err="1"/>
              <a:t>Keras</a:t>
            </a:r>
            <a:r>
              <a:rPr lang="en-IN" sz="3200" dirty="0"/>
              <a:t> – Neural network model</a:t>
            </a:r>
          </a:p>
          <a:p>
            <a:r>
              <a:rPr lang="en-IN" sz="3200" dirty="0"/>
              <a:t>GitHub – Version control &amp; documentation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99E92D-671D-001C-EF6B-72AF7F09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6141616" cy="830997"/>
          </a:xfrm>
        </p:spPr>
        <p:txBody>
          <a:bodyPr>
            <a:normAutofit/>
          </a:bodyPr>
          <a:lstStyle/>
          <a:p>
            <a:r>
              <a:rPr lang="en-IN" dirty="0"/>
              <a:t>Technologies Used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26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0E1C-679C-36FF-EFD7-E6B4C34B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4710D8-13B8-61CA-284E-0553BA7C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168" y="1218293"/>
            <a:ext cx="10797591" cy="4813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/>
              <a:t>To understand how training duration affects model performance, the neural network was trained with multiple epoch settings.</a:t>
            </a:r>
            <a:br>
              <a:rPr lang="en-IN" sz="2200" dirty="0"/>
            </a:br>
            <a:r>
              <a:rPr lang="en-IN" sz="2200" dirty="0"/>
              <a:t>Epochs vs MSE:</a:t>
            </a:r>
            <a:br>
              <a:rPr lang="en-IN" sz="2200" dirty="0"/>
            </a:br>
            <a:r>
              <a:rPr lang="en-IN" sz="2200" dirty="0"/>
              <a:t>• 5 Epochs   → 0.7600 MSE</a:t>
            </a:r>
            <a:br>
              <a:rPr lang="en-IN" sz="2200" dirty="0"/>
            </a:br>
            <a:r>
              <a:rPr lang="en-IN" sz="2200" dirty="0"/>
              <a:t>• 10 Epochs  → 0.5458 MSE</a:t>
            </a:r>
            <a:br>
              <a:rPr lang="en-IN" sz="2200" dirty="0"/>
            </a:br>
            <a:r>
              <a:rPr lang="en-IN" sz="2200" dirty="0"/>
              <a:t>• 20 Epochs  → 0.4985 MSE</a:t>
            </a:r>
            <a:br>
              <a:rPr lang="en-IN" sz="2200" dirty="0"/>
            </a:br>
            <a:r>
              <a:rPr lang="en-IN" sz="2200" dirty="0"/>
              <a:t>• 50 Epochs  → 0.4904 MSE</a:t>
            </a:r>
            <a:br>
              <a:rPr lang="en-IN" sz="2200" dirty="0"/>
            </a:br>
            <a:r>
              <a:rPr lang="en-IN" sz="2200" dirty="0"/>
              <a:t>• 100 Epochs → 0.4893 MSE</a:t>
            </a:r>
            <a:br>
              <a:rPr lang="en-IN" sz="2200" dirty="0"/>
            </a:br>
            <a:br>
              <a:rPr lang="en-IN" sz="2200" dirty="0"/>
            </a:br>
            <a:r>
              <a:rPr lang="en-IN" sz="2200" dirty="0"/>
              <a:t>Observations:</a:t>
            </a:r>
            <a:br>
              <a:rPr lang="en-IN" sz="2200" dirty="0"/>
            </a:br>
            <a:r>
              <a:rPr lang="en-IN" sz="2200" dirty="0"/>
              <a:t>• Model improves rapidly between 5 → 20 epochs</a:t>
            </a:r>
            <a:br>
              <a:rPr lang="en-IN" sz="2200" dirty="0"/>
            </a:br>
            <a:r>
              <a:rPr lang="en-IN" sz="2200" dirty="0"/>
              <a:t>• After ~50 epochs, improvements are very small</a:t>
            </a:r>
            <a:br>
              <a:rPr lang="en-IN" sz="2200" dirty="0"/>
            </a:br>
            <a:r>
              <a:rPr lang="en-IN" sz="2200" dirty="0"/>
              <a:t>• 100 epochs gives the best result, but only slightly better than 50</a:t>
            </a:r>
            <a:br>
              <a:rPr lang="en-IN" sz="2200" dirty="0"/>
            </a:br>
            <a:r>
              <a:rPr lang="en-IN" sz="2200" dirty="0"/>
              <a:t>• Performance plateaus after ~50 epochs (diminishing returns)</a:t>
            </a:r>
            <a:br>
              <a:rPr lang="en-IN" sz="2200" dirty="0"/>
            </a:br>
            <a:r>
              <a:rPr lang="en-IN" sz="2200" dirty="0"/>
              <a:t>• 1000 epochs was attempted, but the runtime caused the browser </a:t>
            </a:r>
            <a:r>
              <a:rPr lang="en-IN" dirty="0"/>
              <a:t>to freeze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9A09E5-82B5-A840-50FB-4659AAF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3" y="152070"/>
            <a:ext cx="11637347" cy="830997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Performance Across Different Epochs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965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608410"/>
            <a:ext cx="9559724" cy="54518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br>
              <a:rPr lang="en-US" sz="3000" dirty="0"/>
            </a:br>
            <a:r>
              <a:rPr lang="en-US" sz="3000" dirty="0"/>
              <a:t>Repository Name:</a:t>
            </a:r>
            <a:r>
              <a:rPr lang="en-IN" sz="3200" dirty="0">
                <a:hlinkClick r:id="rId3"/>
              </a:rPr>
              <a:t>Wine-Quality-Predictor</a:t>
            </a:r>
            <a:br>
              <a:rPr lang="en-IN" sz="3200" b="1" dirty="0"/>
            </a:br>
            <a:br>
              <a:rPr lang="en-US" sz="3000" dirty="0"/>
            </a:br>
            <a:r>
              <a:rPr lang="en-US" sz="3000" dirty="0"/>
              <a:t>URL: </a:t>
            </a:r>
            <a:r>
              <a:rPr lang="en-US" sz="3000" dirty="0">
                <a:hlinkClick r:id="rId3"/>
              </a:rPr>
              <a:t>https://github.com/CosmicStorm09/Wine-Quality-Predictor</a:t>
            </a:r>
            <a:br>
              <a:rPr lang="en-US" sz="3000" dirty="0"/>
            </a:br>
            <a:endParaRPr lang="en-US" sz="3000" i="1" dirty="0"/>
          </a:p>
          <a:p>
            <a:pPr marL="0" indent="0">
              <a:buNone/>
            </a:pPr>
            <a:r>
              <a:rPr lang="en-US" sz="3000" dirty="0"/>
              <a:t>Contents:</a:t>
            </a:r>
            <a:br>
              <a:rPr lang="en-US" sz="3000" dirty="0"/>
            </a:br>
            <a:r>
              <a:rPr lang="en-US" sz="3000" dirty="0"/>
              <a:t>• Notebook (.</a:t>
            </a:r>
            <a:r>
              <a:rPr lang="en-US" sz="3000" dirty="0" err="1"/>
              <a:t>ipynb</a:t>
            </a:r>
            <a:r>
              <a:rPr lang="en-US" sz="3000" dirty="0"/>
              <a:t>)</a:t>
            </a:r>
            <a:br>
              <a:rPr lang="en-US" sz="3000" dirty="0"/>
            </a:br>
            <a:r>
              <a:rPr lang="en-US" sz="3000" dirty="0"/>
              <a:t>• Python script</a:t>
            </a:r>
            <a:br>
              <a:rPr lang="en-US" sz="3000" dirty="0"/>
            </a:br>
            <a:r>
              <a:rPr lang="en-US" sz="3000" dirty="0"/>
              <a:t>• Results (graphs)</a:t>
            </a:r>
            <a:br>
              <a:rPr lang="en-US" sz="3000" dirty="0"/>
            </a:br>
            <a:r>
              <a:rPr lang="en-US" sz="3000" dirty="0"/>
              <a:t>• Presentation</a:t>
            </a:r>
            <a:br>
              <a:rPr lang="en-US" sz="3000" dirty="0"/>
            </a:br>
            <a:r>
              <a:rPr lang="en-US" sz="3000" dirty="0"/>
              <a:t>• README &amp; License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9369D-1F2F-5980-D00E-0256C5538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6000" y="3323470"/>
            <a:ext cx="2954835" cy="295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7614" y="1107440"/>
            <a:ext cx="9399891" cy="6456784"/>
          </a:xfrm>
        </p:spPr>
        <p:txBody>
          <a:bodyPr>
            <a:normAutofit/>
          </a:bodyPr>
          <a:lstStyle/>
          <a:p>
            <a:r>
              <a:rPr lang="en-US" sz="3600" dirty="0"/>
              <a:t>Thank You!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Harsh More </a:t>
            </a:r>
            <a:br>
              <a:rPr lang="en-US" sz="3600" dirty="0"/>
            </a:br>
            <a:r>
              <a:rPr lang="en-US" sz="3600" dirty="0" err="1"/>
              <a:t>B.Tech</a:t>
            </a:r>
            <a:r>
              <a:rPr lang="en-US" sz="3600" dirty="0"/>
              <a:t> Mechanical</a:t>
            </a:r>
            <a:br>
              <a:rPr lang="en-US" sz="3600" dirty="0"/>
            </a:br>
            <a:r>
              <a:rPr lang="en-US" sz="3600" dirty="0"/>
              <a:t>MIT Manipal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Contact – harsh15.mitmpl2022@learner.manipal.edu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1587</TotalTime>
  <Words>635</Words>
  <Application>Microsoft Office PowerPoint</Application>
  <PresentationFormat>Widescreen</PresentationFormat>
  <Paragraphs>71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Wine Quality Dataset Analysis</vt:lpstr>
      <vt:lpstr>PROBLEM  STATEMENT</vt:lpstr>
      <vt:lpstr>Objectives </vt:lpstr>
      <vt:lpstr>Dataset Description   • Dataset: Wine Quality (UCI Machine Learning Repository) • Type: Red &amp; White wine chemical properties • Total Features: 11 physicochemical inputs • Target Variable: Quality score (0–10) • Common features: pH, alcohol, sulphates, acidity, residual sugar, density, etc.</vt:lpstr>
      <vt:lpstr>Methodology</vt:lpstr>
      <vt:lpstr>Feature Distributions</vt:lpstr>
      <vt:lpstr>Quality Score Distribution</vt:lpstr>
      <vt:lpstr>Predictions vs Actual</vt:lpstr>
      <vt:lpstr>Training Curves (Loss &amp; MAE)</vt:lpstr>
      <vt:lpstr>Key Findings </vt:lpstr>
      <vt:lpstr>Technologies Used </vt:lpstr>
      <vt:lpstr>Model Performance Across Different Epochs</vt:lpstr>
      <vt:lpstr>GitHub repository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Harsh More</cp:lastModifiedBy>
  <cp:revision>116</cp:revision>
  <dcterms:created xsi:type="dcterms:W3CDTF">2021-07-11T13:13:15Z</dcterms:created>
  <dcterms:modified xsi:type="dcterms:W3CDTF">2025-11-06T16:15:21Z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